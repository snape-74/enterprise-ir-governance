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Nunito"/>
      <p:regular r:id="rId26"/>
      <p:bold r:id="rId27"/>
      <p:italic r:id="rId28"/>
      <p:boldItalic r:id="rId29"/>
    </p:embeddedFont>
    <p:embeddedFont>
      <p:font typeface="Maven Pro"/>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regular.fntdata"/><Relationship Id="rId25" Type="http://schemas.openxmlformats.org/officeDocument/2006/relationships/slide" Target="slides/slide20.xml"/><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avenPro-bold.fntdata"/><Relationship Id="rId30" Type="http://schemas.openxmlformats.org/officeDocument/2006/relationships/font" Target="fonts/MavenPro-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9a40579999_0_7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9a40579999_0_7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9a40579999_0_9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9a40579999_0_9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9a40579999_0_9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9a40579999_0_9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9a40579999_0_9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9a40579999_0_9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9b1db6daf1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9b1db6daf1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9b1db6daf1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9b1db6daf1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9a40579999_0_9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9a40579999_0_9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9b1db6daf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9b1db6daf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9b1db6daf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9b1db6daf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9b1db6daf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9b1db6daf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9b1db6daf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9b1db6daf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9b1db6daf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9b1db6daf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9b1db6daf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9b1db6daf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9b1db6daf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9b1db6daf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9b1db6daf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9b1db6daf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9b1db6daf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9b1db6daf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9b1db6daf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9b1db6daf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9b611a4c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9b611a4c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9b1db6daf1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9b1db6daf1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921300" y="863138"/>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Development of CSIRT and Incident Response Plan</a:t>
            </a:r>
            <a:endParaRPr>
              <a:latin typeface="Arial"/>
              <a:ea typeface="Arial"/>
              <a:cs typeface="Arial"/>
              <a:sym typeface="Arial"/>
            </a:endParaRPr>
          </a:p>
        </p:txBody>
      </p:sp>
      <p:sp>
        <p:nvSpPr>
          <p:cNvPr id="278" name="Google Shape;278;p13"/>
          <p:cNvSpPr txBox="1"/>
          <p:nvPr>
            <p:ph idx="1" type="subTitle"/>
          </p:nvPr>
        </p:nvSpPr>
        <p:spPr>
          <a:xfrm>
            <a:off x="824000" y="3372000"/>
            <a:ext cx="5880300" cy="17715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sz="1700">
                <a:latin typeface="Arial"/>
                <a:ea typeface="Arial"/>
                <a:cs typeface="Arial"/>
                <a:sym typeface="Arial"/>
              </a:rPr>
              <a:t>Presented by:</a:t>
            </a:r>
            <a:endParaRPr b="1" sz="1700">
              <a:latin typeface="Arial"/>
              <a:ea typeface="Arial"/>
              <a:cs typeface="Arial"/>
              <a:sym typeface="Arial"/>
            </a:endParaRPr>
          </a:p>
          <a:p>
            <a:pPr indent="0" lvl="0" marL="0" rtl="0" algn="l">
              <a:spcBef>
                <a:spcPts val="0"/>
              </a:spcBef>
              <a:spcAft>
                <a:spcPts val="0"/>
              </a:spcAft>
              <a:buNone/>
            </a:pPr>
            <a:r>
              <a:t/>
            </a:r>
            <a:endParaRPr b="1">
              <a:latin typeface="Arial"/>
              <a:ea typeface="Arial"/>
              <a:cs typeface="Arial"/>
              <a:sym typeface="Arial"/>
            </a:endParaRPr>
          </a:p>
          <a:p>
            <a:pPr indent="0" lvl="0" marL="0" rtl="0" algn="l">
              <a:spcBef>
                <a:spcPts val="0"/>
              </a:spcBef>
              <a:spcAft>
                <a:spcPts val="0"/>
              </a:spcAft>
              <a:buNone/>
            </a:pPr>
            <a:r>
              <a:rPr lang="en">
                <a:latin typeface="Arial"/>
                <a:ea typeface="Arial"/>
                <a:cs typeface="Arial"/>
                <a:sym typeface="Arial"/>
              </a:rPr>
              <a:t>Vinitha Kalabathula</a:t>
            </a:r>
            <a:endParaRPr>
              <a:latin typeface="Arial"/>
              <a:ea typeface="Arial"/>
              <a:cs typeface="Arial"/>
              <a:sym typeface="Arial"/>
            </a:endParaRPr>
          </a:p>
          <a:p>
            <a:pPr indent="0" lvl="0" marL="0" rtl="0" algn="l">
              <a:spcBef>
                <a:spcPts val="0"/>
              </a:spcBef>
              <a:spcAft>
                <a:spcPts val="0"/>
              </a:spcAft>
              <a:buNone/>
            </a:pPr>
            <a:r>
              <a:rPr lang="en">
                <a:latin typeface="Arial"/>
                <a:ea typeface="Arial"/>
                <a:cs typeface="Arial"/>
                <a:sym typeface="Arial"/>
              </a:rPr>
              <a:t>Varun Koundinya Kaur</a:t>
            </a:r>
            <a:endParaRPr>
              <a:latin typeface="Arial"/>
              <a:ea typeface="Arial"/>
              <a:cs typeface="Arial"/>
              <a:sym typeface="Arial"/>
            </a:endParaRPr>
          </a:p>
          <a:p>
            <a:pPr indent="0" lvl="0" marL="0" rtl="0" algn="l">
              <a:spcBef>
                <a:spcPts val="0"/>
              </a:spcBef>
              <a:spcAft>
                <a:spcPts val="0"/>
              </a:spcAft>
              <a:buNone/>
            </a:pPr>
            <a:r>
              <a:rPr lang="en">
                <a:latin typeface="Arial"/>
                <a:ea typeface="Arial"/>
                <a:cs typeface="Arial"/>
                <a:sym typeface="Arial"/>
              </a:rPr>
              <a:t>Dhruv Prajapati</a:t>
            </a:r>
            <a:endParaRPr>
              <a:latin typeface="Arial"/>
              <a:ea typeface="Arial"/>
              <a:cs typeface="Arial"/>
              <a:sym typeface="Arial"/>
            </a:endParaRPr>
          </a:p>
          <a:p>
            <a:pPr indent="0" lvl="0" marL="0" rtl="0" algn="l">
              <a:spcBef>
                <a:spcPts val="0"/>
              </a:spcBef>
              <a:spcAft>
                <a:spcPts val="0"/>
              </a:spcAft>
              <a:buNone/>
            </a:pPr>
            <a:r>
              <a:rPr lang="en">
                <a:latin typeface="Arial"/>
                <a:ea typeface="Arial"/>
                <a:cs typeface="Arial"/>
                <a:sym typeface="Arial"/>
              </a:rPr>
              <a:t>Vivek Harsha Vardhan Tumma</a:t>
            </a:r>
            <a:endParaRPr>
              <a:latin typeface="Arial"/>
              <a:ea typeface="Arial"/>
              <a:cs typeface="Arial"/>
              <a:sym typeface="Arial"/>
            </a:endParaRPr>
          </a:p>
          <a:p>
            <a:pPr indent="0" lvl="0" marL="0" rtl="0" algn="l">
              <a:spcBef>
                <a:spcPts val="0"/>
              </a:spcBef>
              <a:spcAft>
                <a:spcPts val="0"/>
              </a:spcAft>
              <a:buNone/>
            </a:pPr>
            <a:r>
              <a:rPr lang="en">
                <a:latin typeface="Arial"/>
                <a:ea typeface="Arial"/>
                <a:cs typeface="Arial"/>
                <a:sym typeface="Arial"/>
              </a:rPr>
              <a:t>Shanmukha Maneeshbabu Uppala</a:t>
            </a:r>
            <a:endParaRPr>
              <a:latin typeface="Arial"/>
              <a:ea typeface="Arial"/>
              <a:cs typeface="Arial"/>
              <a:sym typeface="Arial"/>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707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b="0" sz="3400">
              <a:latin typeface="Arial"/>
              <a:ea typeface="Arial"/>
              <a:cs typeface="Arial"/>
              <a:sym typeface="Arial"/>
            </a:endParaRPr>
          </a:p>
        </p:txBody>
      </p:sp>
      <p:sp>
        <p:nvSpPr>
          <p:cNvPr id="284" name="Google Shape;284;p14"/>
          <p:cNvSpPr txBox="1"/>
          <p:nvPr>
            <p:ph idx="1" type="body"/>
          </p:nvPr>
        </p:nvSpPr>
        <p:spPr>
          <a:xfrm>
            <a:off x="1303800" y="1467525"/>
            <a:ext cx="7030500" cy="30642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1200"/>
              </a:spcAft>
              <a:buNone/>
            </a:pPr>
            <a:r>
              <a:rPr lang="en" sz="1800">
                <a:solidFill>
                  <a:srgbClr val="0F0F0F"/>
                </a:solidFill>
                <a:latin typeface="Arial"/>
                <a:ea typeface="Arial"/>
                <a:cs typeface="Arial"/>
                <a:sym typeface="Arial"/>
              </a:rPr>
              <a:t>The HealthCare Plus Incident Response Plan is a strategic framework focused on safeguarding patient information and maintaining quality medical services. It provides a systematic approach for responding to cybersecurity events in line with HIPAA and HITECH regulations, emphasizing efficient, timely responses to protect patient data and healthcare delivery in our medium-sized organization.</a:t>
            </a:r>
            <a:endParaRPr b="1" sz="190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Regulatory Environment</a:t>
            </a:r>
            <a:endParaRPr/>
          </a:p>
        </p:txBody>
      </p:sp>
      <p:sp>
        <p:nvSpPr>
          <p:cNvPr id="290" name="Google Shape;290;p15"/>
          <p:cNvSpPr txBox="1"/>
          <p:nvPr>
            <p:ph idx="1" type="body"/>
          </p:nvPr>
        </p:nvSpPr>
        <p:spPr>
          <a:xfrm>
            <a:off x="1234300" y="1597875"/>
            <a:ext cx="7030500" cy="2541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500"/>
              <a:t>HealthCare Plus's Incident Response Plan is meticulously designed to align with the stringent requirements of HIPAA and HITECH Acts, ensuring the highest standards of patient data protection and security. This plan incorporates HIPAA's Privacy and Security Rules, focusing on safeguarding sensitive patient information, along with adhering to the HITECH Act's enhanced directives for Electronic Health Records (EHR) security and breach notification protocols. By integrating these regulatory frameworks, the plan emphasizes robust risk management, timely breach notification, and stringent data security measures. </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Reporting Requirements</a:t>
            </a:r>
            <a:endParaRPr/>
          </a:p>
        </p:txBody>
      </p:sp>
      <p:sp>
        <p:nvSpPr>
          <p:cNvPr id="296" name="Google Shape;296;p16"/>
          <p:cNvSpPr txBox="1"/>
          <p:nvPr>
            <p:ph idx="1" type="body"/>
          </p:nvPr>
        </p:nvSpPr>
        <p:spPr>
          <a:xfrm>
            <a:off x="1157800" y="1597875"/>
            <a:ext cx="7802100" cy="2933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700"/>
              <a:t>In compliance with HIPAA and HITECH Acts, HealthCare Plus's Incident Response Plan establishes a comprehensive protocol for reporting security incidents. This includes immediate notification to the internal Computer Security Incident Response Team (CSIRT) for swift action, and where necessary, communication with executive management. For incidents involving data breaches or regulatory violations, we are committed to promptly reporting to relevant authorities, including healthcare regulatory bodies and, if applicable, law enforcement. Our plan ensures all incidents, especially those impacting patient data and privacy, are reported within the stipulated timelines to uphold regulatory compliance, transparency, and patient trust.</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Infrastructure:</a:t>
            </a:r>
            <a:endParaRPr/>
          </a:p>
        </p:txBody>
      </p:sp>
      <p:sp>
        <p:nvSpPr>
          <p:cNvPr id="302" name="Google Shape;302;p17"/>
          <p:cNvSpPr txBox="1"/>
          <p:nvPr>
            <p:ph idx="1" type="body"/>
          </p:nvPr>
        </p:nvSpPr>
        <p:spPr>
          <a:xfrm>
            <a:off x="1303800" y="1662150"/>
            <a:ext cx="7030500" cy="2869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700">
                <a:latin typeface="Arial"/>
                <a:ea typeface="Arial"/>
                <a:cs typeface="Arial"/>
                <a:sym typeface="Arial"/>
              </a:rPr>
              <a:t>HealthCare Plus in New York City, a medium-sized healthcare provider with 10,000 active patients and $5 million annual turnover, specializes in general and specialty healthcare, including diagnostics. Adhering to HIPAA and HITECH regulations, the organization boasts a robust IT infrastructure and a comprehensive healthcare portal integral to its EHR system. To ensure security and data integrity, especially for network-connected medical devices, HealthCare Plus has a dedicated Computer Security Incident Response Team (CSIRT) that operates 24/7 to promptly address cybersecurity issues.</a:t>
            </a:r>
            <a:endParaRPr sz="17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CSIRT Team Members:</a:t>
            </a:r>
            <a:endParaRPr/>
          </a:p>
        </p:txBody>
      </p:sp>
      <p:sp>
        <p:nvSpPr>
          <p:cNvPr id="308" name="Google Shape;308;p18"/>
          <p:cNvSpPr txBox="1"/>
          <p:nvPr>
            <p:ph idx="1" type="body"/>
          </p:nvPr>
        </p:nvSpPr>
        <p:spPr>
          <a:xfrm>
            <a:off x="1303800" y="1453625"/>
            <a:ext cx="7030500" cy="30780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SzPts val="1400"/>
              <a:buFont typeface="Arial"/>
              <a:buChar char="➢"/>
            </a:pPr>
            <a:r>
              <a:rPr lang="en" sz="1400">
                <a:latin typeface="Arial"/>
                <a:ea typeface="Arial"/>
                <a:cs typeface="Arial"/>
                <a:sym typeface="Arial"/>
              </a:rPr>
              <a:t>Health care plus, CSIRT team consists of skilled professionals well-versed in our unique IT infrastructure and security protocols.</a:t>
            </a:r>
            <a:endParaRPr sz="1400">
              <a:latin typeface="Arial"/>
              <a:ea typeface="Arial"/>
              <a:cs typeface="Arial"/>
              <a:sym typeface="Arial"/>
            </a:endParaRPr>
          </a:p>
          <a:p>
            <a:pPr indent="-317500" lvl="0" marL="457200" rtl="0" algn="l">
              <a:lnSpc>
                <a:spcPct val="150000"/>
              </a:lnSpc>
              <a:spcBef>
                <a:spcPts val="0"/>
              </a:spcBef>
              <a:spcAft>
                <a:spcPts val="0"/>
              </a:spcAft>
              <a:buSzPts val="1400"/>
              <a:buFont typeface="Arial"/>
              <a:buChar char="➢"/>
            </a:pPr>
            <a:r>
              <a:rPr lang="en" sz="1400">
                <a:latin typeface="Arial"/>
                <a:ea typeface="Arial"/>
                <a:cs typeface="Arial"/>
                <a:sym typeface="Arial"/>
              </a:rPr>
              <a:t>Operates on a shift-based schedule, providing round-the-clock coverage to ensure prompt incident response.</a:t>
            </a:r>
            <a:endParaRPr sz="1400">
              <a:latin typeface="Arial"/>
              <a:ea typeface="Arial"/>
              <a:cs typeface="Arial"/>
              <a:sym typeface="Arial"/>
            </a:endParaRPr>
          </a:p>
          <a:p>
            <a:pPr indent="-317500" lvl="0" marL="457200" rtl="0" algn="l">
              <a:lnSpc>
                <a:spcPct val="150000"/>
              </a:lnSpc>
              <a:spcBef>
                <a:spcPts val="0"/>
              </a:spcBef>
              <a:spcAft>
                <a:spcPts val="0"/>
              </a:spcAft>
              <a:buSzPts val="1400"/>
              <a:buFont typeface="Arial"/>
              <a:buChar char="➢"/>
            </a:pPr>
            <a:r>
              <a:rPr lang="en" sz="1400">
                <a:latin typeface="Arial"/>
                <a:ea typeface="Arial"/>
                <a:cs typeface="Arial"/>
                <a:sym typeface="Arial"/>
              </a:rPr>
              <a:t>Skilled in handling a range of cybersecurity issues, aligning response activities with the organization’s needs.</a:t>
            </a:r>
            <a:endParaRPr sz="1400">
              <a:latin typeface="Arial"/>
              <a:ea typeface="Arial"/>
              <a:cs typeface="Arial"/>
              <a:sym typeface="Arial"/>
            </a:endParaRPr>
          </a:p>
          <a:p>
            <a:pPr indent="-317500" lvl="0" marL="457200" rtl="0" algn="l">
              <a:lnSpc>
                <a:spcPct val="150000"/>
              </a:lnSpc>
              <a:spcBef>
                <a:spcPts val="0"/>
              </a:spcBef>
              <a:spcAft>
                <a:spcPts val="0"/>
              </a:spcAft>
              <a:buSzPts val="1400"/>
              <a:buFont typeface="Arial"/>
              <a:buChar char="➢"/>
            </a:pPr>
            <a:r>
              <a:rPr lang="en" sz="1400">
                <a:latin typeface="Arial"/>
                <a:ea typeface="Arial"/>
                <a:cs typeface="Arial"/>
                <a:sym typeface="Arial"/>
              </a:rPr>
              <a:t>Continuously trained to stay abreast of the latest cybersecurity threats and response techniques.</a:t>
            </a:r>
            <a:endParaRPr sz="14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We Chose a Central Model: </a:t>
            </a:r>
            <a:endParaRPr/>
          </a:p>
        </p:txBody>
      </p:sp>
      <p:sp>
        <p:nvSpPr>
          <p:cNvPr id="314" name="Google Shape;314;p19"/>
          <p:cNvSpPr txBox="1"/>
          <p:nvPr>
            <p:ph idx="1" type="body"/>
          </p:nvPr>
        </p:nvSpPr>
        <p:spPr>
          <a:xfrm>
            <a:off x="1303800" y="1398025"/>
            <a:ext cx="7030500" cy="31335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lang="en" sz="1400">
                <a:solidFill>
                  <a:srgbClr val="000000"/>
                </a:solidFill>
                <a:latin typeface="Arial"/>
                <a:ea typeface="Arial"/>
                <a:cs typeface="Arial"/>
                <a:sym typeface="Arial"/>
              </a:rPr>
              <a:t>    To ensure a uniform and cohesive reaction to security events, a centralized CSIRT approach is chosen. By lowering the possibility of contradictions and misunderstandings during the incident-handling process, centralization increases team productivity and guarantees that everyone is working together to achieve shared objectives. It is consistent with HealthCare Plus's dedication to service continuity and patient data protection.</a:t>
            </a:r>
            <a:endParaRPr sz="14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476675" y="160800"/>
            <a:ext cx="7148700" cy="109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Detection and Analysis</a:t>
            </a:r>
            <a:endParaRPr/>
          </a:p>
        </p:txBody>
      </p:sp>
      <p:sp>
        <p:nvSpPr>
          <p:cNvPr id="320" name="Google Shape;320;p20"/>
          <p:cNvSpPr txBox="1"/>
          <p:nvPr>
            <p:ph idx="1" type="body"/>
          </p:nvPr>
        </p:nvSpPr>
        <p:spPr>
          <a:xfrm>
            <a:off x="692125" y="869775"/>
            <a:ext cx="7030500" cy="447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latin typeface="Arial"/>
                <a:ea typeface="Arial"/>
                <a:cs typeface="Arial"/>
                <a:sym typeface="Arial"/>
              </a:rPr>
              <a:t>Types of Tools and Placement</a:t>
            </a:r>
            <a:endParaRPr sz="1400">
              <a:latin typeface="Arial"/>
              <a:ea typeface="Arial"/>
              <a:cs typeface="Arial"/>
              <a:sym typeface="Arial"/>
            </a:endParaRPr>
          </a:p>
          <a:p>
            <a:pPr indent="-317500" lvl="0" marL="457200" rtl="0" algn="l">
              <a:spcBef>
                <a:spcPts val="1200"/>
              </a:spcBef>
              <a:spcAft>
                <a:spcPts val="0"/>
              </a:spcAft>
              <a:buSzPts val="1400"/>
              <a:buChar char="➢"/>
            </a:pPr>
            <a:r>
              <a:rPr b="1" lang="en" sz="1400">
                <a:latin typeface="Arial"/>
                <a:ea typeface="Arial"/>
                <a:cs typeface="Arial"/>
                <a:sym typeface="Arial"/>
              </a:rPr>
              <a:t>Intrusion Detection Systems (IDS):</a:t>
            </a:r>
            <a:r>
              <a:rPr lang="en" sz="1400">
                <a:latin typeface="Arial"/>
                <a:ea typeface="Arial"/>
                <a:cs typeface="Arial"/>
                <a:sym typeface="Arial"/>
              </a:rPr>
              <a:t> Deployed strategically at critical points, including network perimeters and near EHR servers, to monitor and detect unusual network activities.</a:t>
            </a:r>
            <a:endParaRPr sz="1400">
              <a:latin typeface="Arial"/>
              <a:ea typeface="Arial"/>
              <a:cs typeface="Arial"/>
              <a:sym typeface="Arial"/>
            </a:endParaRPr>
          </a:p>
          <a:p>
            <a:pPr indent="-317500" lvl="0" marL="457200" rtl="0" algn="l">
              <a:spcBef>
                <a:spcPts val="0"/>
              </a:spcBef>
              <a:spcAft>
                <a:spcPts val="0"/>
              </a:spcAft>
              <a:buSzPts val="1400"/>
              <a:buChar char="➢"/>
            </a:pPr>
            <a:r>
              <a:rPr b="1" lang="en" sz="1400">
                <a:latin typeface="Arial"/>
                <a:ea typeface="Arial"/>
                <a:cs typeface="Arial"/>
                <a:sym typeface="Arial"/>
              </a:rPr>
              <a:t>Intrusion Prevention Systems (IPS):</a:t>
            </a:r>
            <a:r>
              <a:rPr lang="en" sz="1400">
                <a:latin typeface="Arial"/>
                <a:ea typeface="Arial"/>
                <a:cs typeface="Arial"/>
                <a:sym typeface="Arial"/>
              </a:rPr>
              <a:t> Positioned at key network junctures to actively intervene and mitigate potential threats in real-time, safeguarding critical systems like EHR servers.</a:t>
            </a:r>
            <a:endParaRPr sz="1400">
              <a:latin typeface="Arial"/>
              <a:ea typeface="Arial"/>
              <a:cs typeface="Arial"/>
              <a:sym typeface="Arial"/>
            </a:endParaRPr>
          </a:p>
          <a:p>
            <a:pPr indent="-317500" lvl="0" marL="457200" rtl="0" algn="l">
              <a:spcBef>
                <a:spcPts val="0"/>
              </a:spcBef>
              <a:spcAft>
                <a:spcPts val="0"/>
              </a:spcAft>
              <a:buSzPts val="1400"/>
              <a:buChar char="➢"/>
            </a:pPr>
            <a:r>
              <a:rPr b="1" lang="en" sz="1400">
                <a:latin typeface="Arial"/>
                <a:ea typeface="Arial"/>
                <a:cs typeface="Arial"/>
                <a:sym typeface="Arial"/>
              </a:rPr>
              <a:t>Endpoint Detection and Response (EDR):</a:t>
            </a:r>
            <a:r>
              <a:rPr lang="en" sz="1400">
                <a:latin typeface="Arial"/>
                <a:ea typeface="Arial"/>
                <a:cs typeface="Arial"/>
                <a:sym typeface="Arial"/>
              </a:rPr>
              <a:t> Implemented on all network-connected computers to continuously monitor for suspicious activities at the endpoint level.</a:t>
            </a:r>
            <a:endParaRPr sz="1400">
              <a:latin typeface="Arial"/>
              <a:ea typeface="Arial"/>
              <a:cs typeface="Arial"/>
              <a:sym typeface="Arial"/>
            </a:endParaRPr>
          </a:p>
          <a:p>
            <a:pPr indent="-317500" lvl="0" marL="457200" rtl="0" algn="l">
              <a:spcBef>
                <a:spcPts val="0"/>
              </a:spcBef>
              <a:spcAft>
                <a:spcPts val="0"/>
              </a:spcAft>
              <a:buSzPts val="1400"/>
              <a:buChar char="➢"/>
            </a:pPr>
            <a:r>
              <a:rPr b="1" lang="en" sz="1400">
                <a:latin typeface="Arial"/>
                <a:ea typeface="Arial"/>
                <a:cs typeface="Arial"/>
                <a:sym typeface="Arial"/>
              </a:rPr>
              <a:t>Security Information and Event Management (SIEM):</a:t>
            </a:r>
            <a:r>
              <a:rPr lang="en" sz="1400">
                <a:latin typeface="Arial"/>
                <a:ea typeface="Arial"/>
                <a:cs typeface="Arial"/>
                <a:sym typeface="Arial"/>
              </a:rPr>
              <a:t> Centralizes log collection and real-time analysis across the network, enhancing our capability to rapidly detect and respond to potential security incidents.</a:t>
            </a:r>
            <a:endParaRPr sz="1400">
              <a:latin typeface="Arial"/>
              <a:ea typeface="Arial"/>
              <a:cs typeface="Arial"/>
              <a:sym typeface="Arial"/>
            </a:endParaRPr>
          </a:p>
          <a:p>
            <a:pPr indent="-317500" lvl="0" marL="457200" rtl="0" algn="l">
              <a:spcBef>
                <a:spcPts val="0"/>
              </a:spcBef>
              <a:spcAft>
                <a:spcPts val="0"/>
              </a:spcAft>
              <a:buSzPts val="1400"/>
              <a:buChar char="➢"/>
            </a:pPr>
            <a:r>
              <a:rPr b="1" lang="en" sz="1400">
                <a:latin typeface="Arial"/>
                <a:ea typeface="Arial"/>
                <a:cs typeface="Arial"/>
                <a:sym typeface="Arial"/>
              </a:rPr>
              <a:t>Regular Vulnerability Scanning: </a:t>
            </a:r>
            <a:r>
              <a:rPr lang="en" sz="1400">
                <a:latin typeface="Arial"/>
                <a:ea typeface="Arial"/>
                <a:cs typeface="Arial"/>
                <a:sym typeface="Arial"/>
              </a:rPr>
              <a:t>Systematic scanning of software and systems to proactively identify and address security vulnerabilities, maintaining a robust defense posture.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553125" y="18152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Reporting Procedures</a:t>
            </a:r>
            <a:endParaRPr/>
          </a:p>
        </p:txBody>
      </p:sp>
      <p:sp>
        <p:nvSpPr>
          <p:cNvPr id="326" name="Google Shape;326;p21"/>
          <p:cNvSpPr txBox="1"/>
          <p:nvPr>
            <p:ph idx="1" type="body"/>
          </p:nvPr>
        </p:nvSpPr>
        <p:spPr>
          <a:xfrm>
            <a:off x="553125" y="869775"/>
            <a:ext cx="8041800" cy="4991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Font typeface="Arial"/>
              <a:buChar char="➢"/>
            </a:pPr>
            <a:r>
              <a:rPr b="1" lang="en" sz="1700">
                <a:latin typeface="Arial"/>
                <a:ea typeface="Arial"/>
                <a:cs typeface="Arial"/>
                <a:sym typeface="Arial"/>
              </a:rPr>
              <a:t>Employee Reporting:</a:t>
            </a:r>
            <a:r>
              <a:rPr lang="en" sz="1700">
                <a:latin typeface="Arial"/>
                <a:ea typeface="Arial"/>
                <a:cs typeface="Arial"/>
                <a:sym typeface="Arial"/>
              </a:rPr>
              <a:t> Employees are encouraged to report any suspected or detected security incidents through accessible channels like phone, email, or a dedicated platform, fostering a proactive security culture.</a:t>
            </a:r>
            <a:endParaRPr sz="1700">
              <a:latin typeface="Arial"/>
              <a:ea typeface="Arial"/>
              <a:cs typeface="Arial"/>
              <a:sym typeface="Arial"/>
            </a:endParaRPr>
          </a:p>
          <a:p>
            <a:pPr indent="-336550" lvl="0" marL="457200" rtl="0" algn="l">
              <a:spcBef>
                <a:spcPts val="0"/>
              </a:spcBef>
              <a:spcAft>
                <a:spcPts val="0"/>
              </a:spcAft>
              <a:buSzPts val="1700"/>
              <a:buFont typeface="Arial"/>
              <a:buChar char="➢"/>
            </a:pPr>
            <a:r>
              <a:rPr b="1" lang="en" sz="1700">
                <a:latin typeface="Arial"/>
                <a:ea typeface="Arial"/>
                <a:cs typeface="Arial"/>
                <a:sym typeface="Arial"/>
              </a:rPr>
              <a:t>CSIRT Team Involvement:</a:t>
            </a:r>
            <a:r>
              <a:rPr lang="en" sz="1700">
                <a:latin typeface="Arial"/>
                <a:ea typeface="Arial"/>
                <a:cs typeface="Arial"/>
                <a:sym typeface="Arial"/>
              </a:rPr>
              <a:t> The internal Computer Security Incident Response Team (CSIRT) is the primary recipient of incident reports, responsible for immediate action and management of the reported issues.</a:t>
            </a:r>
            <a:endParaRPr sz="1700">
              <a:latin typeface="Arial"/>
              <a:ea typeface="Arial"/>
              <a:cs typeface="Arial"/>
              <a:sym typeface="Arial"/>
            </a:endParaRPr>
          </a:p>
          <a:p>
            <a:pPr indent="-336550" lvl="0" marL="457200" rtl="0" algn="l">
              <a:spcBef>
                <a:spcPts val="0"/>
              </a:spcBef>
              <a:spcAft>
                <a:spcPts val="0"/>
              </a:spcAft>
              <a:buSzPts val="1700"/>
              <a:buFont typeface="Arial"/>
              <a:buChar char="➢"/>
            </a:pPr>
            <a:r>
              <a:rPr b="1" lang="en" sz="1700">
                <a:latin typeface="Arial"/>
                <a:ea typeface="Arial"/>
                <a:cs typeface="Arial"/>
                <a:sym typeface="Arial"/>
              </a:rPr>
              <a:t>Management Notification: </a:t>
            </a:r>
            <a:r>
              <a:rPr lang="en" sz="1700">
                <a:latin typeface="Arial"/>
                <a:ea typeface="Arial"/>
                <a:cs typeface="Arial"/>
                <a:sym typeface="Arial"/>
              </a:rPr>
              <a:t>Significant incidents, especially those with potential regulatory implications, are escalated to executive management, including the CEO and CIO.</a:t>
            </a:r>
            <a:endParaRPr sz="1700">
              <a:latin typeface="Arial"/>
              <a:ea typeface="Arial"/>
              <a:cs typeface="Arial"/>
              <a:sym typeface="Arial"/>
            </a:endParaRPr>
          </a:p>
          <a:p>
            <a:pPr indent="-336550" lvl="0" marL="457200" rtl="0" algn="l">
              <a:spcBef>
                <a:spcPts val="0"/>
              </a:spcBef>
              <a:spcAft>
                <a:spcPts val="0"/>
              </a:spcAft>
              <a:buSzPts val="1700"/>
              <a:buFont typeface="Arial"/>
              <a:buChar char="➢"/>
            </a:pPr>
            <a:r>
              <a:rPr b="1" lang="en" sz="1700">
                <a:latin typeface="Arial"/>
                <a:ea typeface="Arial"/>
                <a:cs typeface="Arial"/>
                <a:sym typeface="Arial"/>
              </a:rPr>
              <a:t>Regulatory Reporting: </a:t>
            </a:r>
            <a:r>
              <a:rPr lang="en" sz="1700">
                <a:latin typeface="Arial"/>
                <a:ea typeface="Arial"/>
                <a:cs typeface="Arial"/>
                <a:sym typeface="Arial"/>
              </a:rPr>
              <a:t>Incidents involving potential data breaches or HIPAA violations are reported to relevant regulatory authorities as mandated by law.</a:t>
            </a:r>
            <a:endParaRPr sz="1700">
              <a:latin typeface="Arial"/>
              <a:ea typeface="Arial"/>
              <a:cs typeface="Arial"/>
              <a:sym typeface="Arial"/>
            </a:endParaRPr>
          </a:p>
          <a:p>
            <a:pPr indent="-336550" lvl="0" marL="457200" rtl="0" algn="l">
              <a:spcBef>
                <a:spcPts val="0"/>
              </a:spcBef>
              <a:spcAft>
                <a:spcPts val="0"/>
              </a:spcAft>
              <a:buSzPts val="1700"/>
              <a:buFont typeface="Arial"/>
              <a:buChar char="➢"/>
            </a:pPr>
            <a:r>
              <a:rPr b="1" lang="en" sz="1700">
                <a:latin typeface="Arial"/>
                <a:ea typeface="Arial"/>
                <a:cs typeface="Arial"/>
                <a:sym typeface="Arial"/>
              </a:rPr>
              <a:t>Law Enforcement Engagement: </a:t>
            </a:r>
            <a:r>
              <a:rPr lang="en" sz="1700">
                <a:latin typeface="Arial"/>
                <a:ea typeface="Arial"/>
                <a:cs typeface="Arial"/>
                <a:sym typeface="Arial"/>
              </a:rPr>
              <a:t>Incidents with criminal aspects, such as data breaches with malicious intent, are reported to appropriate law enforcement agencies for investigation and potential legal action.</a:t>
            </a:r>
            <a:endParaRPr sz="1700">
              <a:latin typeface="Arial"/>
              <a:ea typeface="Arial"/>
              <a:cs typeface="Arial"/>
              <a:sym typeface="Arial"/>
            </a:endParaRPr>
          </a:p>
          <a:p>
            <a:pPr indent="0" lvl="0" marL="0" rtl="0" algn="l">
              <a:spcBef>
                <a:spcPts val="1200"/>
              </a:spcBef>
              <a:spcAft>
                <a:spcPts val="0"/>
              </a:spcAft>
              <a:buNone/>
            </a:pPr>
            <a:r>
              <a:t/>
            </a:r>
            <a:endParaRPr sz="1600">
              <a:latin typeface="Arial"/>
              <a:ea typeface="Arial"/>
              <a:cs typeface="Arial"/>
              <a:sym typeface="Arial"/>
            </a:endParaRPr>
          </a:p>
          <a:p>
            <a:pPr indent="0" lvl="0" marL="0" rtl="0" algn="l">
              <a:spcBef>
                <a:spcPts val="1200"/>
              </a:spcBef>
              <a:spcAft>
                <a:spcPts val="1200"/>
              </a:spcAft>
              <a:buNone/>
            </a:pPr>
            <a:r>
              <a:t/>
            </a:r>
            <a:endParaRPr sz="16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2"/>
          <p:cNvSpPr txBox="1"/>
          <p:nvPr>
            <p:ph type="title"/>
          </p:nvPr>
        </p:nvSpPr>
        <p:spPr>
          <a:xfrm>
            <a:off x="1317700" y="6680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Report Template</a:t>
            </a:r>
            <a:endParaRPr/>
          </a:p>
        </p:txBody>
      </p:sp>
      <p:sp>
        <p:nvSpPr>
          <p:cNvPr id="332" name="Google Shape;332;p22"/>
          <p:cNvSpPr txBox="1"/>
          <p:nvPr>
            <p:ph idx="1" type="body"/>
          </p:nvPr>
        </p:nvSpPr>
        <p:spPr>
          <a:xfrm>
            <a:off x="1164775" y="1787500"/>
            <a:ext cx="7030500" cy="25416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Font typeface="Arial"/>
              <a:buChar char="➢"/>
            </a:pPr>
            <a:r>
              <a:rPr lang="en" sz="2000">
                <a:latin typeface="Arial"/>
                <a:ea typeface="Arial"/>
                <a:cs typeface="Arial"/>
                <a:sym typeface="Arial"/>
              </a:rPr>
              <a:t>I</a:t>
            </a:r>
            <a:r>
              <a:rPr lang="en" sz="2000">
                <a:latin typeface="Arial"/>
                <a:ea typeface="Arial"/>
                <a:cs typeface="Arial"/>
                <a:sym typeface="Arial"/>
              </a:rPr>
              <a:t>ncident description,</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lang="en" sz="2000">
                <a:latin typeface="Arial"/>
                <a:ea typeface="Arial"/>
                <a:cs typeface="Arial"/>
                <a:sym typeface="Arial"/>
              </a:rPr>
              <a:t>Detection time,</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lang="en" sz="2000">
                <a:latin typeface="Arial"/>
                <a:ea typeface="Arial"/>
                <a:cs typeface="Arial"/>
                <a:sym typeface="Arial"/>
              </a:rPr>
              <a:t>Severity classification, </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lang="en" sz="2000">
                <a:latin typeface="Arial"/>
                <a:ea typeface="Arial"/>
                <a:cs typeface="Arial"/>
                <a:sym typeface="Arial"/>
              </a:rPr>
              <a:t>Actions taken, </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lang="en" sz="2000">
                <a:latin typeface="Arial"/>
                <a:ea typeface="Arial"/>
                <a:cs typeface="Arial"/>
                <a:sym typeface="Arial"/>
              </a:rPr>
              <a:t>Impact assessment, and </a:t>
            </a:r>
            <a:endParaRPr sz="2000">
              <a:latin typeface="Arial"/>
              <a:ea typeface="Arial"/>
              <a:cs typeface="Arial"/>
              <a:sym typeface="Arial"/>
            </a:endParaRPr>
          </a:p>
          <a:p>
            <a:pPr indent="-355600" lvl="0" marL="457200" rtl="0" algn="l">
              <a:spcBef>
                <a:spcPts val="0"/>
              </a:spcBef>
              <a:spcAft>
                <a:spcPts val="0"/>
              </a:spcAft>
              <a:buSzPts val="2000"/>
              <a:buFont typeface="Arial"/>
              <a:buChar char="➢"/>
            </a:pPr>
            <a:r>
              <a:rPr lang="en" sz="2000">
                <a:latin typeface="Arial"/>
                <a:ea typeface="Arial"/>
                <a:cs typeface="Arial"/>
                <a:sym typeface="Arial"/>
              </a:rPr>
              <a:t>Recommendations for future prevention.</a:t>
            </a:r>
            <a:endParaRPr sz="20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3"/>
          <p:cNvSpPr txBox="1"/>
          <p:nvPr>
            <p:ph type="title"/>
          </p:nvPr>
        </p:nvSpPr>
        <p:spPr>
          <a:xfrm>
            <a:off x="984075" y="56555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Response Procedures</a:t>
            </a:r>
            <a:endParaRPr/>
          </a:p>
        </p:txBody>
      </p:sp>
      <p:sp>
        <p:nvSpPr>
          <p:cNvPr id="338" name="Google Shape;338;p23"/>
          <p:cNvSpPr txBox="1"/>
          <p:nvPr>
            <p:ph idx="1" type="body"/>
          </p:nvPr>
        </p:nvSpPr>
        <p:spPr>
          <a:xfrm>
            <a:off x="907600" y="1411925"/>
            <a:ext cx="7426800" cy="3809100"/>
          </a:xfrm>
          <a:prstGeom prst="rect">
            <a:avLst/>
          </a:prstGeom>
        </p:spPr>
        <p:txBody>
          <a:bodyPr anchorCtr="0" anchor="t" bIns="91425" lIns="91425" spcFirstLastPara="1" rIns="91425" wrap="square" tIns="91425">
            <a:normAutofit lnSpcReduction="10000"/>
          </a:bodyPr>
          <a:lstStyle/>
          <a:p>
            <a:pPr indent="-336550" lvl="0" marL="457200" rtl="0" algn="just">
              <a:spcBef>
                <a:spcPts val="0"/>
              </a:spcBef>
              <a:spcAft>
                <a:spcPts val="0"/>
              </a:spcAft>
              <a:buSzPts val="1700"/>
              <a:buFont typeface="Arial"/>
              <a:buChar char="➢"/>
            </a:pPr>
            <a:r>
              <a:rPr b="1" lang="en" sz="1700">
                <a:latin typeface="Arial"/>
                <a:ea typeface="Arial"/>
                <a:cs typeface="Arial"/>
                <a:sym typeface="Arial"/>
              </a:rPr>
              <a:t>Containment: </a:t>
            </a:r>
            <a:r>
              <a:rPr lang="en" sz="1700">
                <a:latin typeface="Arial"/>
                <a:ea typeface="Arial"/>
                <a:cs typeface="Arial"/>
                <a:sym typeface="Arial"/>
              </a:rPr>
              <a:t>Rapid actions to isolate affected systems or network segments, preventing further spread. Strategies include disconnecting systems, quarantining infected areas, or blocking malicious traffic.</a:t>
            </a:r>
            <a:endParaRPr sz="1700">
              <a:latin typeface="Arial"/>
              <a:ea typeface="Arial"/>
              <a:cs typeface="Arial"/>
              <a:sym typeface="Arial"/>
            </a:endParaRPr>
          </a:p>
          <a:p>
            <a:pPr indent="-336550" lvl="0" marL="457200" rtl="0" algn="just">
              <a:spcBef>
                <a:spcPts val="0"/>
              </a:spcBef>
              <a:spcAft>
                <a:spcPts val="0"/>
              </a:spcAft>
              <a:buSzPts val="1700"/>
              <a:buFont typeface="Arial"/>
              <a:buChar char="➢"/>
            </a:pPr>
            <a:r>
              <a:rPr b="1" lang="en" sz="1700">
                <a:latin typeface="Arial"/>
                <a:ea typeface="Arial"/>
                <a:cs typeface="Arial"/>
                <a:sym typeface="Arial"/>
              </a:rPr>
              <a:t>Eradication:</a:t>
            </a:r>
            <a:r>
              <a:rPr lang="en" sz="1700">
                <a:latin typeface="Arial"/>
                <a:ea typeface="Arial"/>
                <a:cs typeface="Arial"/>
                <a:sym typeface="Arial"/>
              </a:rPr>
              <a:t> Removal of threats by deleting malware, disabling breached accounts, and addressing vulnerabilities. This step may involve restoring from clean backups, rebuilding systems, or applying security patches.</a:t>
            </a:r>
            <a:endParaRPr sz="1700">
              <a:latin typeface="Arial"/>
              <a:ea typeface="Arial"/>
              <a:cs typeface="Arial"/>
              <a:sym typeface="Arial"/>
            </a:endParaRPr>
          </a:p>
          <a:p>
            <a:pPr indent="-336550" lvl="0" marL="457200" rtl="0" algn="just">
              <a:spcBef>
                <a:spcPts val="0"/>
              </a:spcBef>
              <a:spcAft>
                <a:spcPts val="0"/>
              </a:spcAft>
              <a:buSzPts val="1700"/>
              <a:buFont typeface="Arial"/>
              <a:buChar char="➢"/>
            </a:pPr>
            <a:r>
              <a:rPr b="1" lang="en" sz="1700">
                <a:latin typeface="Arial"/>
                <a:ea typeface="Arial"/>
                <a:cs typeface="Arial"/>
                <a:sym typeface="Arial"/>
              </a:rPr>
              <a:t>Recovery:</a:t>
            </a:r>
            <a:r>
              <a:rPr lang="en" sz="1700">
                <a:latin typeface="Arial"/>
                <a:ea typeface="Arial"/>
                <a:cs typeface="Arial"/>
                <a:sym typeface="Arial"/>
              </a:rPr>
              <a:t> Restoring systems to normal operation, confirming functionality, and remediating vulnerabilities to prevent recurrence. This includes restoring data from backups, changing passwords, and enhancing network security.</a:t>
            </a:r>
            <a:endParaRPr sz="17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Categorization of Incidents:</a:t>
            </a:r>
            <a:endParaRPr/>
          </a:p>
        </p:txBody>
      </p:sp>
      <p:sp>
        <p:nvSpPr>
          <p:cNvPr id="344" name="Google Shape;344;p24"/>
          <p:cNvSpPr txBox="1"/>
          <p:nvPr/>
        </p:nvSpPr>
        <p:spPr>
          <a:xfrm>
            <a:off x="754675" y="2398925"/>
            <a:ext cx="2544000" cy="2335200"/>
          </a:xfrm>
          <a:prstGeom prst="rect">
            <a:avLst/>
          </a:prstGeom>
          <a:noFill/>
          <a:ln>
            <a:noFill/>
          </a:ln>
        </p:spPr>
        <p:txBody>
          <a:bodyPr anchorCtr="0" anchor="t" bIns="91425" lIns="91425" spcFirstLastPara="1" rIns="91425" wrap="square" tIns="91425">
            <a:noAutofit/>
          </a:bodyPr>
          <a:lstStyle/>
          <a:p>
            <a:pPr indent="0" lvl="0" marL="0" rtl="0" algn="just">
              <a:spcBef>
                <a:spcPts val="1200"/>
              </a:spcBef>
              <a:spcAft>
                <a:spcPts val="0"/>
              </a:spcAft>
              <a:buNone/>
            </a:pPr>
            <a:r>
              <a:rPr lang="en" sz="1500"/>
              <a:t>Events that have minimal impact on operations, data, or assets and that can be easily controlled and resolved. Only requires a limited amount of resources or expertise to handle.</a:t>
            </a:r>
            <a:endParaRPr sz="1700">
              <a:solidFill>
                <a:schemeClr val="dk2"/>
              </a:solidFill>
              <a:latin typeface="Nunito"/>
              <a:ea typeface="Nunito"/>
              <a:cs typeface="Nunito"/>
              <a:sym typeface="Nunito"/>
            </a:endParaRPr>
          </a:p>
        </p:txBody>
      </p:sp>
      <p:sp>
        <p:nvSpPr>
          <p:cNvPr id="345" name="Google Shape;345;p24"/>
          <p:cNvSpPr txBox="1"/>
          <p:nvPr/>
        </p:nvSpPr>
        <p:spPr>
          <a:xfrm>
            <a:off x="754675" y="1676050"/>
            <a:ext cx="2335500" cy="45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rPr>
              <a:t>Level 1(Low)</a:t>
            </a:r>
            <a:endParaRPr b="1" sz="1800">
              <a:solidFill>
                <a:schemeClr val="dk2"/>
              </a:solidFill>
            </a:endParaRPr>
          </a:p>
        </p:txBody>
      </p:sp>
      <p:sp>
        <p:nvSpPr>
          <p:cNvPr id="346" name="Google Shape;346;p24"/>
          <p:cNvSpPr txBox="1"/>
          <p:nvPr/>
        </p:nvSpPr>
        <p:spPr>
          <a:xfrm>
            <a:off x="3799100" y="1676050"/>
            <a:ext cx="2043600" cy="4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Level 2(</a:t>
            </a:r>
            <a:r>
              <a:rPr b="1" lang="en" sz="1800">
                <a:solidFill>
                  <a:schemeClr val="dk2"/>
                </a:solidFill>
              </a:rPr>
              <a:t>Medium)</a:t>
            </a:r>
            <a:endParaRPr b="1" sz="1800">
              <a:solidFill>
                <a:schemeClr val="dk2"/>
              </a:solidFill>
            </a:endParaRPr>
          </a:p>
        </p:txBody>
      </p:sp>
      <p:sp>
        <p:nvSpPr>
          <p:cNvPr id="347" name="Google Shape;347;p24"/>
          <p:cNvSpPr txBox="1"/>
          <p:nvPr/>
        </p:nvSpPr>
        <p:spPr>
          <a:xfrm>
            <a:off x="3799100" y="2398925"/>
            <a:ext cx="2335500" cy="2252100"/>
          </a:xfrm>
          <a:prstGeom prst="rect">
            <a:avLst/>
          </a:prstGeom>
          <a:noFill/>
          <a:ln>
            <a:noFill/>
          </a:ln>
        </p:spPr>
        <p:txBody>
          <a:bodyPr anchorCtr="0" anchor="t" bIns="91425" lIns="91425" spcFirstLastPara="1" rIns="91425" wrap="square" tIns="91425">
            <a:noAutofit/>
          </a:bodyPr>
          <a:lstStyle/>
          <a:p>
            <a:pPr indent="0" lvl="0" marL="0" rtl="0" algn="just">
              <a:spcBef>
                <a:spcPts val="1200"/>
              </a:spcBef>
              <a:spcAft>
                <a:spcPts val="0"/>
              </a:spcAft>
              <a:buNone/>
            </a:pPr>
            <a:r>
              <a:rPr lang="en" sz="1500"/>
              <a:t>Incidents that have a moderate impact on operations, data, or assets, and may require some effort to control and resolve. Not serious but requires attention.</a:t>
            </a:r>
            <a:endParaRPr sz="1700">
              <a:solidFill>
                <a:schemeClr val="dk2"/>
              </a:solidFill>
              <a:latin typeface="Nunito"/>
              <a:ea typeface="Nunito"/>
              <a:cs typeface="Nunito"/>
              <a:sym typeface="Nunito"/>
            </a:endParaRPr>
          </a:p>
        </p:txBody>
      </p:sp>
      <p:sp>
        <p:nvSpPr>
          <p:cNvPr id="348" name="Google Shape;348;p24"/>
          <p:cNvSpPr txBox="1"/>
          <p:nvPr/>
        </p:nvSpPr>
        <p:spPr>
          <a:xfrm>
            <a:off x="6690575" y="1676050"/>
            <a:ext cx="2043600" cy="45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dk2"/>
                </a:solidFill>
              </a:rPr>
              <a:t>Level 3(High)</a:t>
            </a:r>
            <a:endParaRPr b="1" sz="1700">
              <a:solidFill>
                <a:schemeClr val="dk2"/>
              </a:solidFill>
            </a:endParaRPr>
          </a:p>
        </p:txBody>
      </p:sp>
      <p:sp>
        <p:nvSpPr>
          <p:cNvPr id="349" name="Google Shape;349;p24"/>
          <p:cNvSpPr txBox="1"/>
          <p:nvPr/>
        </p:nvSpPr>
        <p:spPr>
          <a:xfrm>
            <a:off x="6579175" y="2385025"/>
            <a:ext cx="2544000" cy="2758500"/>
          </a:xfrm>
          <a:prstGeom prst="rect">
            <a:avLst/>
          </a:prstGeom>
          <a:noFill/>
          <a:ln>
            <a:noFill/>
          </a:ln>
        </p:spPr>
        <p:txBody>
          <a:bodyPr anchorCtr="0" anchor="t" bIns="91425" lIns="91425" spcFirstLastPara="1" rIns="91425" wrap="square" tIns="91425">
            <a:noAutofit/>
          </a:bodyPr>
          <a:lstStyle/>
          <a:p>
            <a:pPr indent="0" lvl="0" marL="0" rtl="0" algn="just">
              <a:spcBef>
                <a:spcPts val="1200"/>
              </a:spcBef>
              <a:spcAft>
                <a:spcPts val="0"/>
              </a:spcAft>
              <a:buNone/>
            </a:pPr>
            <a:r>
              <a:rPr lang="en" sz="1500"/>
              <a:t>Critical events need to be addressed right away because they could seriously affect operations, data, or assets. It often requires a large amount of resources and experience to prevent and resolve such disasters.</a:t>
            </a:r>
            <a:endParaRPr sz="1700">
              <a:solidFill>
                <a:schemeClr val="dk2"/>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5"/>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are Incidents Escalated?</a:t>
            </a:r>
            <a:endParaRPr/>
          </a:p>
          <a:p>
            <a:pPr indent="0" lvl="0" marL="0" rtl="0" algn="l">
              <a:spcBef>
                <a:spcPts val="0"/>
              </a:spcBef>
              <a:spcAft>
                <a:spcPts val="0"/>
              </a:spcAft>
              <a:buNone/>
            </a:pPr>
            <a:r>
              <a:t/>
            </a:r>
            <a:endParaRPr/>
          </a:p>
        </p:txBody>
      </p:sp>
      <p:sp>
        <p:nvSpPr>
          <p:cNvPr id="355" name="Google Shape;355;p25"/>
          <p:cNvSpPr txBox="1"/>
          <p:nvPr>
            <p:ph idx="1" type="body"/>
          </p:nvPr>
        </p:nvSpPr>
        <p:spPr>
          <a:xfrm>
            <a:off x="1303800" y="1597875"/>
            <a:ext cx="7030500" cy="29337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 sz="1600">
                <a:solidFill>
                  <a:srgbClr val="000000"/>
                </a:solidFill>
                <a:latin typeface="Arial"/>
                <a:ea typeface="Arial"/>
                <a:cs typeface="Arial"/>
                <a:sym typeface="Arial"/>
              </a:rPr>
              <a:t>An incident escalation procedure is essential to making sure that problems are properly handled and resolved in a timely and effective manner. It involves</a:t>
            </a:r>
            <a:endParaRPr sz="1600">
              <a:solidFill>
                <a:srgbClr val="000000"/>
              </a:solidFill>
              <a:latin typeface="Arial"/>
              <a:ea typeface="Arial"/>
              <a:cs typeface="Arial"/>
              <a:sym typeface="Arial"/>
            </a:endParaRPr>
          </a:p>
          <a:p>
            <a:pPr indent="-330200" lvl="0" marL="457200" rtl="0" algn="l">
              <a:lnSpc>
                <a:spcPct val="150000"/>
              </a:lnSpc>
              <a:spcBef>
                <a:spcPts val="1200"/>
              </a:spcBef>
              <a:spcAft>
                <a:spcPts val="0"/>
              </a:spcAft>
              <a:buClr>
                <a:srgbClr val="000000"/>
              </a:buClr>
              <a:buSzPts val="1600"/>
              <a:buFont typeface="Arial"/>
              <a:buChar char="❖"/>
            </a:pPr>
            <a:r>
              <a:rPr lang="en" sz="1600">
                <a:solidFill>
                  <a:srgbClr val="000000"/>
                </a:solidFill>
                <a:latin typeface="Arial"/>
                <a:ea typeface="Arial"/>
                <a:cs typeface="Arial"/>
                <a:sym typeface="Arial"/>
              </a:rPr>
              <a:t>Initial Reporting and Assessment</a:t>
            </a:r>
            <a:endParaRPr sz="1600">
              <a:solidFill>
                <a:srgbClr val="000000"/>
              </a:solidFill>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Escalation Criteria</a:t>
            </a:r>
            <a:endParaRPr sz="1600">
              <a:solidFill>
                <a:srgbClr val="000000"/>
              </a:solidFill>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 Escalation </a:t>
            </a:r>
            <a:r>
              <a:rPr lang="en" sz="1600">
                <a:solidFill>
                  <a:srgbClr val="000000"/>
                </a:solidFill>
                <a:latin typeface="Arial"/>
                <a:ea typeface="Arial"/>
                <a:cs typeface="Arial"/>
                <a:sym typeface="Arial"/>
              </a:rPr>
              <a:t>Levels</a:t>
            </a:r>
            <a:endParaRPr sz="1600">
              <a:solidFill>
                <a:srgbClr val="000000"/>
              </a:solidFill>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Incident Response Plan</a:t>
            </a:r>
            <a:endParaRPr sz="1600">
              <a:solidFill>
                <a:srgbClr val="000000"/>
              </a:solidFill>
              <a:latin typeface="Arial"/>
              <a:ea typeface="Arial"/>
              <a:cs typeface="Arial"/>
              <a:sym typeface="Arial"/>
            </a:endParaRPr>
          </a:p>
          <a:p>
            <a:pPr indent="0" lvl="0" marL="0" rtl="0" algn="l">
              <a:lnSpc>
                <a:spcPct val="100000"/>
              </a:lnSpc>
              <a:spcBef>
                <a:spcPts val="1200"/>
              </a:spcBef>
              <a:spcAft>
                <a:spcPts val="1200"/>
              </a:spcAft>
              <a:buNone/>
            </a:pPr>
            <a:r>
              <a:t/>
            </a:r>
            <a:endParaRPr b="1" sz="110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6"/>
          <p:cNvSpPr txBox="1"/>
          <p:nvPr>
            <p:ph type="title"/>
          </p:nvPr>
        </p:nvSpPr>
        <p:spPr>
          <a:xfrm>
            <a:off x="1303800" y="598575"/>
            <a:ext cx="7030500" cy="576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1. Medical Data breach Response Procedure</a:t>
            </a:r>
            <a:endParaRPr/>
          </a:p>
        </p:txBody>
      </p:sp>
      <p:sp>
        <p:nvSpPr>
          <p:cNvPr id="361" name="Google Shape;361;p26"/>
          <p:cNvSpPr txBox="1"/>
          <p:nvPr>
            <p:ph idx="1" type="body"/>
          </p:nvPr>
        </p:nvSpPr>
        <p:spPr>
          <a:xfrm>
            <a:off x="1192600" y="1267150"/>
            <a:ext cx="7030500" cy="3995400"/>
          </a:xfrm>
          <a:prstGeom prst="rect">
            <a:avLst/>
          </a:prstGeom>
        </p:spPr>
        <p:txBody>
          <a:bodyPr anchorCtr="0" anchor="t" bIns="91425" lIns="91425" spcFirstLastPara="1" rIns="91425" wrap="square" tIns="91425">
            <a:noAutofit/>
          </a:bodyPr>
          <a:lstStyle/>
          <a:p>
            <a:pPr indent="0" lvl="0" marL="0" rtl="0" algn="just">
              <a:lnSpc>
                <a:spcPct val="80000"/>
              </a:lnSpc>
              <a:spcBef>
                <a:spcPts val="1200"/>
              </a:spcBef>
              <a:spcAft>
                <a:spcPts val="0"/>
              </a:spcAft>
              <a:buSzPts val="1018"/>
              <a:buNone/>
            </a:pPr>
            <a:r>
              <a:rPr lang="en" sz="1402">
                <a:solidFill>
                  <a:srgbClr val="000000"/>
                </a:solidFill>
                <a:latin typeface="Arial"/>
                <a:ea typeface="Arial"/>
                <a:cs typeface="Arial"/>
                <a:sym typeface="Arial"/>
              </a:rPr>
              <a:t>Incident level: Level 3 (High Level)</a:t>
            </a:r>
            <a:endParaRPr sz="1402">
              <a:solidFill>
                <a:srgbClr val="000000"/>
              </a:solidFill>
              <a:latin typeface="Arial"/>
              <a:ea typeface="Arial"/>
              <a:cs typeface="Arial"/>
              <a:sym typeface="Arial"/>
            </a:endParaRPr>
          </a:p>
          <a:p>
            <a:pPr indent="0" lvl="0" marL="0" rtl="0" algn="just">
              <a:lnSpc>
                <a:spcPct val="80000"/>
              </a:lnSpc>
              <a:spcBef>
                <a:spcPts val="1200"/>
              </a:spcBef>
              <a:spcAft>
                <a:spcPts val="0"/>
              </a:spcAft>
              <a:buSzPts val="1018"/>
              <a:buNone/>
            </a:pPr>
            <a:r>
              <a:rPr lang="en" sz="1402">
                <a:solidFill>
                  <a:srgbClr val="000000"/>
                </a:solidFill>
                <a:latin typeface="Arial"/>
                <a:ea typeface="Arial"/>
                <a:cs typeface="Arial"/>
                <a:sym typeface="Arial"/>
              </a:rPr>
              <a:t>Response Procedures:</a:t>
            </a:r>
            <a:endParaRPr sz="1402">
              <a:solidFill>
                <a:srgbClr val="000000"/>
              </a:solidFill>
              <a:latin typeface="Arial"/>
              <a:ea typeface="Arial"/>
              <a:cs typeface="Arial"/>
              <a:sym typeface="Arial"/>
            </a:endParaRPr>
          </a:p>
          <a:p>
            <a:pPr indent="-317658" lvl="0" marL="457200" rtl="0" algn="just">
              <a:lnSpc>
                <a:spcPct val="115000"/>
              </a:lnSpc>
              <a:spcBef>
                <a:spcPts val="1200"/>
              </a:spcBef>
              <a:spcAft>
                <a:spcPts val="0"/>
              </a:spcAft>
              <a:buClr>
                <a:srgbClr val="000000"/>
              </a:buClr>
              <a:buSzPts val="1403"/>
              <a:buFont typeface="Arial"/>
              <a:buChar char="➢"/>
            </a:pPr>
            <a:r>
              <a:rPr lang="en" sz="1402">
                <a:solidFill>
                  <a:srgbClr val="000000"/>
                </a:solidFill>
                <a:latin typeface="Arial"/>
                <a:ea typeface="Arial"/>
                <a:cs typeface="Arial"/>
                <a:sym typeface="Arial"/>
              </a:rPr>
              <a:t>Immediately isolate affected systems or network segments to prevent further data exposure.</a:t>
            </a:r>
            <a:endParaRPr sz="1402">
              <a:solidFill>
                <a:srgbClr val="000000"/>
              </a:solidFill>
              <a:latin typeface="Arial"/>
              <a:ea typeface="Arial"/>
              <a:cs typeface="Arial"/>
              <a:sym typeface="Arial"/>
            </a:endParaRPr>
          </a:p>
          <a:p>
            <a:pPr indent="-317658" lvl="0" marL="457200" rtl="0" algn="just">
              <a:lnSpc>
                <a:spcPct val="115000"/>
              </a:lnSpc>
              <a:spcBef>
                <a:spcPts val="0"/>
              </a:spcBef>
              <a:spcAft>
                <a:spcPts val="0"/>
              </a:spcAft>
              <a:buClr>
                <a:srgbClr val="000000"/>
              </a:buClr>
              <a:buSzPts val="1403"/>
              <a:buFont typeface="Arial"/>
              <a:buChar char="➢"/>
            </a:pPr>
            <a:r>
              <a:rPr lang="en" sz="1402">
                <a:solidFill>
                  <a:srgbClr val="000000"/>
                </a:solidFill>
                <a:latin typeface="Arial"/>
                <a:ea typeface="Arial"/>
                <a:cs typeface="Arial"/>
                <a:sym typeface="Arial"/>
              </a:rPr>
              <a:t>Examine system logs, application logs, and security logs for any unusual or unauthorized activities</a:t>
            </a:r>
            <a:endParaRPr sz="1402">
              <a:solidFill>
                <a:srgbClr val="000000"/>
              </a:solidFill>
              <a:latin typeface="Arial"/>
              <a:ea typeface="Arial"/>
              <a:cs typeface="Arial"/>
              <a:sym typeface="Arial"/>
            </a:endParaRPr>
          </a:p>
          <a:p>
            <a:pPr indent="-317658" lvl="0" marL="457200" rtl="0" algn="just">
              <a:lnSpc>
                <a:spcPct val="115000"/>
              </a:lnSpc>
              <a:spcBef>
                <a:spcPts val="0"/>
              </a:spcBef>
              <a:spcAft>
                <a:spcPts val="0"/>
              </a:spcAft>
              <a:buClr>
                <a:srgbClr val="000000"/>
              </a:buClr>
              <a:buSzPts val="1403"/>
              <a:buFont typeface="Arial"/>
              <a:buChar char="➢"/>
            </a:pPr>
            <a:r>
              <a:rPr lang="en" sz="1402">
                <a:solidFill>
                  <a:srgbClr val="000000"/>
                </a:solidFill>
                <a:latin typeface="Arial"/>
                <a:ea typeface="Arial"/>
                <a:cs typeface="Arial"/>
                <a:sym typeface="Arial"/>
              </a:rPr>
              <a:t>Identify and classify the data that has been breached.</a:t>
            </a:r>
            <a:endParaRPr sz="1402">
              <a:solidFill>
                <a:srgbClr val="000000"/>
              </a:solidFill>
              <a:latin typeface="Arial"/>
              <a:ea typeface="Arial"/>
              <a:cs typeface="Arial"/>
              <a:sym typeface="Arial"/>
            </a:endParaRPr>
          </a:p>
          <a:p>
            <a:pPr indent="-317658" lvl="0" marL="457200" rtl="0" algn="just">
              <a:lnSpc>
                <a:spcPct val="115000"/>
              </a:lnSpc>
              <a:spcBef>
                <a:spcPts val="0"/>
              </a:spcBef>
              <a:spcAft>
                <a:spcPts val="0"/>
              </a:spcAft>
              <a:buClr>
                <a:srgbClr val="000000"/>
              </a:buClr>
              <a:buSzPts val="1403"/>
              <a:buFont typeface="Arial"/>
              <a:buChar char="➢"/>
            </a:pPr>
            <a:r>
              <a:rPr lang="en" sz="1402">
                <a:solidFill>
                  <a:srgbClr val="000000"/>
                </a:solidFill>
                <a:latin typeface="Arial"/>
                <a:ea typeface="Arial"/>
                <a:cs typeface="Arial"/>
                <a:sym typeface="Arial"/>
              </a:rPr>
              <a:t>Halt the unauthorized data transfer process to prevent further data leakage.</a:t>
            </a:r>
            <a:endParaRPr sz="1402">
              <a:solidFill>
                <a:srgbClr val="000000"/>
              </a:solidFill>
              <a:latin typeface="Arial"/>
              <a:ea typeface="Arial"/>
              <a:cs typeface="Arial"/>
              <a:sym typeface="Arial"/>
            </a:endParaRPr>
          </a:p>
          <a:p>
            <a:pPr indent="-317658" lvl="0" marL="457200" rtl="0" algn="just">
              <a:lnSpc>
                <a:spcPct val="115000"/>
              </a:lnSpc>
              <a:spcBef>
                <a:spcPts val="0"/>
              </a:spcBef>
              <a:spcAft>
                <a:spcPts val="0"/>
              </a:spcAft>
              <a:buClr>
                <a:srgbClr val="000000"/>
              </a:buClr>
              <a:buSzPts val="1403"/>
              <a:buFont typeface="Arial"/>
              <a:buChar char="➢"/>
            </a:pPr>
            <a:r>
              <a:rPr lang="en" sz="1402">
                <a:solidFill>
                  <a:srgbClr val="000000"/>
                </a:solidFill>
                <a:latin typeface="Arial"/>
                <a:ea typeface="Arial"/>
                <a:cs typeface="Arial"/>
                <a:sym typeface="Arial"/>
              </a:rPr>
              <a:t>Preserve evidence for potential legal actions.</a:t>
            </a:r>
            <a:endParaRPr sz="1402">
              <a:solidFill>
                <a:srgbClr val="000000"/>
              </a:solidFill>
              <a:latin typeface="Arial"/>
              <a:ea typeface="Arial"/>
              <a:cs typeface="Arial"/>
              <a:sym typeface="Arial"/>
            </a:endParaRPr>
          </a:p>
          <a:p>
            <a:pPr indent="-317658" lvl="0" marL="457200" rtl="0" algn="just">
              <a:lnSpc>
                <a:spcPct val="115000"/>
              </a:lnSpc>
              <a:spcBef>
                <a:spcPts val="0"/>
              </a:spcBef>
              <a:spcAft>
                <a:spcPts val="0"/>
              </a:spcAft>
              <a:buClr>
                <a:srgbClr val="000000"/>
              </a:buClr>
              <a:buSzPts val="1403"/>
              <a:buFont typeface="Arial"/>
              <a:buChar char="➢"/>
            </a:pPr>
            <a:r>
              <a:rPr lang="en" sz="1402">
                <a:solidFill>
                  <a:srgbClr val="000000"/>
                </a:solidFill>
                <a:latin typeface="Arial"/>
                <a:ea typeface="Arial"/>
                <a:cs typeface="Arial"/>
                <a:sym typeface="Arial"/>
              </a:rPr>
              <a:t>Notify the incident response team and key stakeholders.</a:t>
            </a:r>
            <a:endParaRPr sz="1402">
              <a:solidFill>
                <a:srgbClr val="000000"/>
              </a:solidFill>
              <a:latin typeface="Arial"/>
              <a:ea typeface="Arial"/>
              <a:cs typeface="Arial"/>
              <a:sym typeface="Arial"/>
            </a:endParaRPr>
          </a:p>
          <a:p>
            <a:pPr indent="-317658" lvl="0" marL="457200" rtl="0" algn="just">
              <a:lnSpc>
                <a:spcPct val="115000"/>
              </a:lnSpc>
              <a:spcBef>
                <a:spcPts val="0"/>
              </a:spcBef>
              <a:spcAft>
                <a:spcPts val="0"/>
              </a:spcAft>
              <a:buClr>
                <a:srgbClr val="000000"/>
              </a:buClr>
              <a:buSzPts val="1403"/>
              <a:buFont typeface="Arial"/>
              <a:buChar char="➢"/>
            </a:pPr>
            <a:r>
              <a:rPr lang="en" sz="1402">
                <a:solidFill>
                  <a:srgbClr val="000000"/>
                </a:solidFill>
                <a:latin typeface="Arial"/>
                <a:ea typeface="Arial"/>
                <a:cs typeface="Arial"/>
                <a:sym typeface="Arial"/>
              </a:rPr>
              <a:t>Contain the incident by securing the breached systems and closing any vulnerabilities. Eradicate any unauthorized access and remove malicious actors from the network.</a:t>
            </a:r>
            <a:endParaRPr sz="1402">
              <a:solidFill>
                <a:srgbClr val="000000"/>
              </a:solidFill>
              <a:latin typeface="Arial"/>
              <a:ea typeface="Arial"/>
              <a:cs typeface="Arial"/>
              <a:sym typeface="Arial"/>
            </a:endParaRPr>
          </a:p>
          <a:p>
            <a:pPr indent="0" lvl="0" marL="0" rtl="0" algn="l">
              <a:lnSpc>
                <a:spcPct val="95000"/>
              </a:lnSpc>
              <a:spcBef>
                <a:spcPts val="1200"/>
              </a:spcBef>
              <a:spcAft>
                <a:spcPts val="1200"/>
              </a:spcAft>
              <a:buSzPts val="1018"/>
              <a:buNone/>
            </a:pPr>
            <a:r>
              <a:t/>
            </a:r>
            <a:endParaRPr sz="1302">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 DOS Attack</a:t>
            </a:r>
            <a:endParaRPr/>
          </a:p>
        </p:txBody>
      </p:sp>
      <p:sp>
        <p:nvSpPr>
          <p:cNvPr id="367" name="Google Shape;367;p27"/>
          <p:cNvSpPr txBox="1"/>
          <p:nvPr>
            <p:ph idx="1" type="body"/>
          </p:nvPr>
        </p:nvSpPr>
        <p:spPr>
          <a:xfrm>
            <a:off x="1241250" y="1328500"/>
            <a:ext cx="7093200" cy="3989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lang="en" sz="1400">
                <a:solidFill>
                  <a:srgbClr val="000000"/>
                </a:solidFill>
                <a:latin typeface="Arial"/>
                <a:ea typeface="Arial"/>
                <a:cs typeface="Arial"/>
                <a:sym typeface="Arial"/>
              </a:rPr>
              <a:t>Incident level: Level 2 (Medium)</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400">
                <a:solidFill>
                  <a:srgbClr val="000000"/>
                </a:solidFill>
                <a:latin typeface="Arial"/>
                <a:ea typeface="Arial"/>
                <a:cs typeface="Arial"/>
                <a:sym typeface="Arial"/>
              </a:rPr>
              <a:t>Response Procedures:</a:t>
            </a:r>
            <a:endParaRPr sz="1400">
              <a:solidFill>
                <a:srgbClr val="000000"/>
              </a:solidFill>
              <a:latin typeface="Arial"/>
              <a:ea typeface="Arial"/>
              <a:cs typeface="Arial"/>
              <a:sym typeface="Arial"/>
            </a:endParaRPr>
          </a:p>
          <a:p>
            <a:pPr indent="-317500" lvl="0" marL="457200" rtl="0" algn="l">
              <a:lnSpc>
                <a:spcPct val="115000"/>
              </a:lnSpc>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Work with your ISP or DDoS protection service to filter and block malicious traffic before it reaches your network.</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Set Up Auto-Scaling or Load Balancing</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Run anti-DoS hardware or software to stop unwanted request</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Monitor network traffic continuously for effectiveness and adjust mitigation measures as needed.</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 Analyze the nature of the attack to determine its source and methods.</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Communicate with affected customers, clients, or users about the incident and its impact.</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 Implement rate limiting, traffic shaping, or ACL rules on routers and firewalls to drop or prioritize traffic.</a:t>
            </a:r>
            <a:endParaRPr sz="100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320">
                <a:latin typeface="Arial"/>
                <a:ea typeface="Arial"/>
                <a:cs typeface="Arial"/>
                <a:sym typeface="Arial"/>
              </a:rPr>
              <a:t>3. Natural Disaster(FIRE) Response Procedure</a:t>
            </a:r>
            <a:endParaRPr sz="2320">
              <a:latin typeface="Arial"/>
              <a:ea typeface="Arial"/>
              <a:cs typeface="Arial"/>
              <a:sym typeface="Arial"/>
            </a:endParaRPr>
          </a:p>
        </p:txBody>
      </p:sp>
      <p:sp>
        <p:nvSpPr>
          <p:cNvPr id="373" name="Google Shape;373;p28"/>
          <p:cNvSpPr txBox="1"/>
          <p:nvPr>
            <p:ph idx="1" type="body"/>
          </p:nvPr>
        </p:nvSpPr>
        <p:spPr>
          <a:xfrm>
            <a:off x="1303800" y="1356325"/>
            <a:ext cx="7030500" cy="31752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1200"/>
              </a:spcBef>
              <a:spcAft>
                <a:spcPts val="0"/>
              </a:spcAft>
              <a:buNone/>
            </a:pPr>
            <a:r>
              <a:rPr lang="en" sz="1400">
                <a:solidFill>
                  <a:srgbClr val="000000"/>
                </a:solidFill>
                <a:latin typeface="Arial"/>
                <a:ea typeface="Arial"/>
                <a:cs typeface="Arial"/>
                <a:sym typeface="Arial"/>
              </a:rPr>
              <a:t>Incident level: Level 3 (High Level)</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400">
                <a:solidFill>
                  <a:srgbClr val="000000"/>
                </a:solidFill>
                <a:latin typeface="Arial"/>
                <a:ea typeface="Arial"/>
                <a:cs typeface="Arial"/>
                <a:sym typeface="Arial"/>
              </a:rPr>
              <a:t>Response Procedures:</a:t>
            </a:r>
            <a:endParaRPr sz="1400">
              <a:solidFill>
                <a:srgbClr val="000000"/>
              </a:solidFill>
              <a:latin typeface="Arial"/>
              <a:ea typeface="Arial"/>
              <a:cs typeface="Arial"/>
              <a:sym typeface="Arial"/>
            </a:endParaRPr>
          </a:p>
          <a:p>
            <a:pPr indent="-317500" lvl="0" marL="457200" rtl="0" algn="l">
              <a:lnSpc>
                <a:spcPct val="115000"/>
              </a:lnSpc>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Ensure the safety of all personnel and occupants by following established safety protocols and evacuation plans.</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Immediately execute emergency evacuation plan</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Assess the physical damage to facilities and infrastructure.</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Secure critical infrastructure to prevent further damage.</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Activate disaster recovery and business continuity plans.</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Notify relevant authorities, emergency services, and key stakeholders about the situation.</a:t>
            </a:r>
            <a:endParaRPr sz="1400">
              <a:solidFill>
                <a:srgbClr val="000000"/>
              </a:solidFill>
              <a:latin typeface="Arial"/>
              <a:ea typeface="Arial"/>
              <a:cs typeface="Arial"/>
              <a:sym typeface="Arial"/>
            </a:endParaRPr>
          </a:p>
          <a:p>
            <a:pPr indent="0" lvl="0" marL="0" rtl="0" algn="l">
              <a:lnSpc>
                <a:spcPct val="115000"/>
              </a:lnSpc>
              <a:spcBef>
                <a:spcPts val="1200"/>
              </a:spcBef>
              <a:spcAft>
                <a:spcPts val="1200"/>
              </a:spcAft>
              <a:buNone/>
            </a:pPr>
            <a:r>
              <a:t/>
            </a:r>
            <a:endParaRPr sz="14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Post-Incident Activity</a:t>
            </a:r>
            <a:endParaRPr/>
          </a:p>
        </p:txBody>
      </p:sp>
      <p:sp>
        <p:nvSpPr>
          <p:cNvPr id="379" name="Google Shape;379;p29"/>
          <p:cNvSpPr txBox="1"/>
          <p:nvPr>
            <p:ph idx="1" type="body"/>
          </p:nvPr>
        </p:nvSpPr>
        <p:spPr>
          <a:xfrm>
            <a:off x="1303800" y="1481425"/>
            <a:ext cx="7030500" cy="3662100"/>
          </a:xfrm>
          <a:prstGeom prst="rect">
            <a:avLst/>
          </a:prstGeom>
        </p:spPr>
        <p:txBody>
          <a:bodyPr anchorCtr="0" anchor="t" bIns="91425" lIns="91425" spcFirstLastPara="1" rIns="91425" wrap="square" tIns="91425">
            <a:normAutofit fontScale="85000" lnSpcReduction="20000"/>
          </a:bodyPr>
          <a:lstStyle/>
          <a:p>
            <a:pPr indent="0" lvl="0" marL="0" rtl="0" algn="just">
              <a:lnSpc>
                <a:spcPct val="150000"/>
              </a:lnSpc>
              <a:spcBef>
                <a:spcPts val="0"/>
              </a:spcBef>
              <a:spcAft>
                <a:spcPts val="0"/>
              </a:spcAft>
              <a:buSzPct val="65384"/>
              <a:buNone/>
            </a:pPr>
            <a:r>
              <a:rPr lang="en" sz="1430">
                <a:latin typeface="Arial"/>
                <a:ea typeface="Arial"/>
                <a:cs typeface="Arial"/>
                <a:sym typeface="Arial"/>
              </a:rPr>
              <a:t>Post-incident analysis, the final stage in the incident response lifecycle, plays a pivotal role in the pursuit of cyber resilience. It involves a comprehensive examination of the incident, its causes, impact, and the response undertaken. </a:t>
            </a:r>
            <a:endParaRPr sz="1430">
              <a:latin typeface="Arial"/>
              <a:ea typeface="Arial"/>
              <a:cs typeface="Arial"/>
              <a:sym typeface="Arial"/>
            </a:endParaRPr>
          </a:p>
          <a:p>
            <a:pPr indent="-312134" lvl="0" marL="457200" rtl="0" algn="l">
              <a:lnSpc>
                <a:spcPct val="150000"/>
              </a:lnSpc>
              <a:spcBef>
                <a:spcPts val="1200"/>
              </a:spcBef>
              <a:spcAft>
                <a:spcPts val="0"/>
              </a:spcAft>
              <a:buClr>
                <a:srgbClr val="000000"/>
              </a:buClr>
              <a:buSzPct val="100000"/>
              <a:buFont typeface="Arial"/>
              <a:buChar char="➢"/>
            </a:pPr>
            <a:r>
              <a:rPr lang="en" sz="1547">
                <a:solidFill>
                  <a:srgbClr val="000000"/>
                </a:solidFill>
                <a:latin typeface="Arial"/>
                <a:ea typeface="Arial"/>
                <a:cs typeface="Arial"/>
                <a:sym typeface="Arial"/>
              </a:rPr>
              <a:t>Exactly what happened, and at what times?</a:t>
            </a:r>
            <a:endParaRPr sz="1547">
              <a:solidFill>
                <a:srgbClr val="000000"/>
              </a:solidFill>
              <a:latin typeface="Arial"/>
              <a:ea typeface="Arial"/>
              <a:cs typeface="Arial"/>
              <a:sym typeface="Arial"/>
            </a:endParaRPr>
          </a:p>
          <a:p>
            <a:pPr indent="-312134" lvl="0" marL="457200" rtl="0" algn="l">
              <a:lnSpc>
                <a:spcPct val="150000"/>
              </a:lnSpc>
              <a:spcBef>
                <a:spcPts val="0"/>
              </a:spcBef>
              <a:spcAft>
                <a:spcPts val="0"/>
              </a:spcAft>
              <a:buClr>
                <a:srgbClr val="000000"/>
              </a:buClr>
              <a:buSzPct val="100000"/>
              <a:buFont typeface="Arial"/>
              <a:buChar char="➢"/>
            </a:pPr>
            <a:r>
              <a:rPr lang="en" sz="1547">
                <a:solidFill>
                  <a:srgbClr val="000000"/>
                </a:solidFill>
                <a:latin typeface="Arial"/>
                <a:ea typeface="Arial"/>
                <a:cs typeface="Arial"/>
                <a:sym typeface="Arial"/>
              </a:rPr>
              <a:t>How well did staff and management perform in dealing with the incident? </a:t>
            </a:r>
            <a:endParaRPr sz="1547">
              <a:solidFill>
                <a:srgbClr val="000000"/>
              </a:solidFill>
              <a:latin typeface="Arial"/>
              <a:ea typeface="Arial"/>
              <a:cs typeface="Arial"/>
              <a:sym typeface="Arial"/>
            </a:endParaRPr>
          </a:p>
          <a:p>
            <a:pPr indent="-312134" lvl="0" marL="457200" rtl="0" algn="l">
              <a:lnSpc>
                <a:spcPct val="150000"/>
              </a:lnSpc>
              <a:spcBef>
                <a:spcPts val="0"/>
              </a:spcBef>
              <a:spcAft>
                <a:spcPts val="0"/>
              </a:spcAft>
              <a:buClr>
                <a:srgbClr val="000000"/>
              </a:buClr>
              <a:buSzPct val="100000"/>
              <a:buFont typeface="Arial"/>
              <a:buChar char="➢"/>
            </a:pPr>
            <a:r>
              <a:rPr lang="en" sz="1547">
                <a:solidFill>
                  <a:srgbClr val="000000"/>
                </a:solidFill>
                <a:latin typeface="Arial"/>
                <a:ea typeface="Arial"/>
                <a:cs typeface="Arial"/>
                <a:sym typeface="Arial"/>
              </a:rPr>
              <a:t>Were the documented procedures followed?</a:t>
            </a:r>
            <a:endParaRPr sz="1547">
              <a:solidFill>
                <a:srgbClr val="000000"/>
              </a:solidFill>
              <a:latin typeface="Arial"/>
              <a:ea typeface="Arial"/>
              <a:cs typeface="Arial"/>
              <a:sym typeface="Arial"/>
            </a:endParaRPr>
          </a:p>
          <a:p>
            <a:pPr indent="-312134" lvl="0" marL="457200" rtl="0" algn="l">
              <a:lnSpc>
                <a:spcPct val="150000"/>
              </a:lnSpc>
              <a:spcBef>
                <a:spcPts val="0"/>
              </a:spcBef>
              <a:spcAft>
                <a:spcPts val="0"/>
              </a:spcAft>
              <a:buClr>
                <a:srgbClr val="000000"/>
              </a:buClr>
              <a:buSzPct val="100000"/>
              <a:buFont typeface="Arial"/>
              <a:buChar char="➢"/>
            </a:pPr>
            <a:r>
              <a:rPr lang="en" sz="1547">
                <a:solidFill>
                  <a:srgbClr val="000000"/>
                </a:solidFill>
                <a:latin typeface="Arial"/>
                <a:ea typeface="Arial"/>
                <a:cs typeface="Arial"/>
                <a:sym typeface="Arial"/>
              </a:rPr>
              <a:t>Were they adequate?</a:t>
            </a:r>
            <a:endParaRPr sz="1547">
              <a:solidFill>
                <a:srgbClr val="000000"/>
              </a:solidFill>
              <a:latin typeface="Arial"/>
              <a:ea typeface="Arial"/>
              <a:cs typeface="Arial"/>
              <a:sym typeface="Arial"/>
            </a:endParaRPr>
          </a:p>
          <a:p>
            <a:pPr indent="-312134" lvl="0" marL="457200" rtl="0" algn="l">
              <a:lnSpc>
                <a:spcPct val="150000"/>
              </a:lnSpc>
              <a:spcBef>
                <a:spcPts val="0"/>
              </a:spcBef>
              <a:spcAft>
                <a:spcPts val="0"/>
              </a:spcAft>
              <a:buClr>
                <a:srgbClr val="000000"/>
              </a:buClr>
              <a:buSzPct val="100000"/>
              <a:buFont typeface="Arial"/>
              <a:buChar char="➢"/>
            </a:pPr>
            <a:r>
              <a:rPr lang="en" sz="1547">
                <a:solidFill>
                  <a:srgbClr val="000000"/>
                </a:solidFill>
                <a:latin typeface="Arial"/>
                <a:ea typeface="Arial"/>
                <a:cs typeface="Arial"/>
                <a:sym typeface="Arial"/>
              </a:rPr>
              <a:t>What information was needed sooner?</a:t>
            </a:r>
            <a:endParaRPr sz="1547">
              <a:solidFill>
                <a:srgbClr val="000000"/>
              </a:solidFill>
              <a:latin typeface="Arial"/>
              <a:ea typeface="Arial"/>
              <a:cs typeface="Arial"/>
              <a:sym typeface="Arial"/>
            </a:endParaRPr>
          </a:p>
          <a:p>
            <a:pPr indent="-312134" lvl="0" marL="457200" rtl="0" algn="l">
              <a:lnSpc>
                <a:spcPct val="150000"/>
              </a:lnSpc>
              <a:spcBef>
                <a:spcPts val="0"/>
              </a:spcBef>
              <a:spcAft>
                <a:spcPts val="0"/>
              </a:spcAft>
              <a:buClr>
                <a:srgbClr val="000000"/>
              </a:buClr>
              <a:buSzPct val="100000"/>
              <a:buFont typeface="Arial"/>
              <a:buChar char="➢"/>
            </a:pPr>
            <a:r>
              <a:rPr lang="en" sz="1547">
                <a:solidFill>
                  <a:srgbClr val="000000"/>
                </a:solidFill>
                <a:latin typeface="Arial"/>
                <a:ea typeface="Arial"/>
                <a:cs typeface="Arial"/>
                <a:sym typeface="Arial"/>
              </a:rPr>
              <a:t>Were any steps or actions taken that might have inhibited the recovery? </a:t>
            </a:r>
            <a:endParaRPr sz="1547">
              <a:solidFill>
                <a:srgbClr val="000000"/>
              </a:solidFill>
              <a:latin typeface="Arial"/>
              <a:ea typeface="Arial"/>
              <a:cs typeface="Arial"/>
              <a:sym typeface="Arial"/>
            </a:endParaRPr>
          </a:p>
          <a:p>
            <a:pPr indent="-312134" lvl="0" marL="457200" rtl="0" algn="l">
              <a:lnSpc>
                <a:spcPct val="150000"/>
              </a:lnSpc>
              <a:spcBef>
                <a:spcPts val="0"/>
              </a:spcBef>
              <a:spcAft>
                <a:spcPts val="0"/>
              </a:spcAft>
              <a:buClr>
                <a:srgbClr val="000000"/>
              </a:buClr>
              <a:buSzPct val="100000"/>
              <a:buFont typeface="Arial"/>
              <a:buChar char="➢"/>
            </a:pPr>
            <a:r>
              <a:rPr lang="en" sz="1547">
                <a:solidFill>
                  <a:srgbClr val="000000"/>
                </a:solidFill>
                <a:latin typeface="Arial"/>
                <a:ea typeface="Arial"/>
                <a:cs typeface="Arial"/>
                <a:sym typeface="Arial"/>
              </a:rPr>
              <a:t>What would the staff and management do differently the next time a similar incident occurs?</a:t>
            </a:r>
            <a:endParaRPr sz="1547">
              <a:solidFill>
                <a:srgbClr val="000000"/>
              </a:solidFill>
              <a:latin typeface="Arial"/>
              <a:ea typeface="Arial"/>
              <a:cs typeface="Arial"/>
              <a:sym typeface="Arial"/>
            </a:endParaRPr>
          </a:p>
          <a:p>
            <a:pPr indent="-312134" lvl="0" marL="457200" rtl="0" algn="l">
              <a:lnSpc>
                <a:spcPct val="150000"/>
              </a:lnSpc>
              <a:spcBef>
                <a:spcPts val="0"/>
              </a:spcBef>
              <a:spcAft>
                <a:spcPts val="0"/>
              </a:spcAft>
              <a:buClr>
                <a:srgbClr val="000000"/>
              </a:buClr>
              <a:buSzPct val="100000"/>
              <a:buFont typeface="Arial"/>
              <a:buChar char="➢"/>
            </a:pPr>
            <a:r>
              <a:rPr lang="en" sz="1547">
                <a:solidFill>
                  <a:srgbClr val="000000"/>
                </a:solidFill>
                <a:latin typeface="Arial"/>
                <a:ea typeface="Arial"/>
                <a:cs typeface="Arial"/>
                <a:sym typeface="Arial"/>
              </a:rPr>
              <a:t>How could information sharing with other organizations have been improved?</a:t>
            </a:r>
            <a:endParaRPr sz="1547">
              <a:solidFill>
                <a:srgbClr val="000000"/>
              </a:solidFill>
              <a:latin typeface="Arial"/>
              <a:ea typeface="Arial"/>
              <a:cs typeface="Arial"/>
              <a:sym typeface="Arial"/>
            </a:endParaRPr>
          </a:p>
          <a:p>
            <a:pPr indent="-312134" lvl="0" marL="457200" rtl="0" algn="l">
              <a:lnSpc>
                <a:spcPct val="150000"/>
              </a:lnSpc>
              <a:spcBef>
                <a:spcPts val="0"/>
              </a:spcBef>
              <a:spcAft>
                <a:spcPts val="0"/>
              </a:spcAft>
              <a:buClr>
                <a:srgbClr val="000000"/>
              </a:buClr>
              <a:buSzPct val="100000"/>
              <a:buFont typeface="Arial"/>
              <a:buChar char="➢"/>
            </a:pPr>
            <a:r>
              <a:rPr lang="en" sz="1547">
                <a:solidFill>
                  <a:srgbClr val="000000"/>
                </a:solidFill>
                <a:latin typeface="Arial"/>
                <a:ea typeface="Arial"/>
                <a:cs typeface="Arial"/>
                <a:sym typeface="Arial"/>
              </a:rPr>
              <a:t>What corrective actions can prevent similar incidents in the future? </a:t>
            </a:r>
            <a:endParaRPr sz="1122"/>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Post-Incident Activity</a:t>
            </a:r>
            <a:endParaRPr/>
          </a:p>
        </p:txBody>
      </p:sp>
      <p:sp>
        <p:nvSpPr>
          <p:cNvPr id="385" name="Google Shape;385;p30"/>
          <p:cNvSpPr txBox="1"/>
          <p:nvPr>
            <p:ph idx="1" type="body"/>
          </p:nvPr>
        </p:nvSpPr>
        <p:spPr>
          <a:xfrm>
            <a:off x="1303800" y="1203400"/>
            <a:ext cx="7030500" cy="33282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None/>
            </a:pPr>
            <a:r>
              <a:rPr lang="en" sz="1400">
                <a:latin typeface="Arial"/>
                <a:ea typeface="Arial"/>
                <a:cs typeface="Arial"/>
                <a:sym typeface="Arial"/>
              </a:rPr>
              <a:t>Here are the Key Steps to Consider:</a:t>
            </a:r>
            <a:endParaRPr sz="1400">
              <a:latin typeface="Arial"/>
              <a:ea typeface="Arial"/>
              <a:cs typeface="Arial"/>
              <a:sym typeface="Arial"/>
            </a:endParaRPr>
          </a:p>
          <a:p>
            <a:pPr indent="-317500" lvl="0" marL="457200" rtl="0" algn="l">
              <a:lnSpc>
                <a:spcPct val="115000"/>
              </a:lnSpc>
              <a:spcBef>
                <a:spcPts val="1200"/>
              </a:spcBef>
              <a:spcAft>
                <a:spcPts val="0"/>
              </a:spcAft>
              <a:buSzPts val="1400"/>
              <a:buFont typeface="Arial"/>
              <a:buChar char="➢"/>
            </a:pPr>
            <a:r>
              <a:rPr lang="en" sz="1400">
                <a:latin typeface="Arial"/>
                <a:ea typeface="Arial"/>
                <a:cs typeface="Arial"/>
                <a:sym typeface="Arial"/>
              </a:rPr>
              <a:t>Incident Description</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a:latin typeface="Arial"/>
                <a:ea typeface="Arial"/>
                <a:cs typeface="Arial"/>
                <a:sym typeface="Arial"/>
              </a:rPr>
              <a:t>Impact Assessment</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a:latin typeface="Arial"/>
                <a:ea typeface="Arial"/>
                <a:cs typeface="Arial"/>
                <a:sym typeface="Arial"/>
              </a:rPr>
              <a:t>Response Timeline</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a:latin typeface="Arial"/>
                <a:ea typeface="Arial"/>
                <a:cs typeface="Arial"/>
                <a:sym typeface="Arial"/>
              </a:rPr>
              <a:t>Issues and Challaneges</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a:latin typeface="Arial"/>
                <a:ea typeface="Arial"/>
                <a:cs typeface="Arial"/>
                <a:sym typeface="Arial"/>
              </a:rPr>
              <a:t>Decision Making</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a:latin typeface="Arial"/>
                <a:ea typeface="Arial"/>
                <a:cs typeface="Arial"/>
                <a:sym typeface="Arial"/>
              </a:rPr>
              <a:t>Resource Allocation</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a:latin typeface="Arial"/>
                <a:ea typeface="Arial"/>
                <a:cs typeface="Arial"/>
                <a:sym typeface="Arial"/>
              </a:rPr>
              <a:t>Regulatory Complaince</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a:latin typeface="Arial"/>
                <a:ea typeface="Arial"/>
                <a:cs typeface="Arial"/>
                <a:sym typeface="Arial"/>
              </a:rPr>
              <a:t>Accountability</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a:latin typeface="Arial"/>
                <a:ea typeface="Arial"/>
                <a:cs typeface="Arial"/>
                <a:sym typeface="Arial"/>
              </a:rPr>
              <a:t>Follow-up and Monitoring</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a:latin typeface="Arial"/>
                <a:ea typeface="Arial"/>
                <a:cs typeface="Arial"/>
                <a:sym typeface="Arial"/>
              </a:rPr>
              <a:t>Continuous Improvement</a:t>
            </a:r>
            <a:endParaRPr sz="14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91" name="Google Shape;391;p3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2"/>
          <p:cNvSpPr txBox="1"/>
          <p:nvPr>
            <p:ph type="title"/>
          </p:nvPr>
        </p:nvSpPr>
        <p:spPr>
          <a:xfrm>
            <a:off x="1303800" y="598575"/>
            <a:ext cx="7030500" cy="310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